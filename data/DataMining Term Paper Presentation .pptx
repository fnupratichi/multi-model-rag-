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8B9E6-FC8D-9654-CFD3-CA7985C76953}" v="64" dt="2024-11-21T19:22:46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competitions/digit-recognizer/data?select=train.cs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75192"/>
          </a:xfrm>
        </p:spPr>
        <p:txBody>
          <a:bodyPr/>
          <a:lstStyle/>
          <a:p>
            <a:r>
              <a:rPr lang="en-US"/>
              <a:t>Data Mining Term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3985" y="2895409"/>
            <a:ext cx="9144000" cy="5322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Presentation on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EB88-44D1-B8C6-AF46-D581F49B7BBB}"/>
              </a:ext>
            </a:extLst>
          </p:cNvPr>
          <p:cNvSpPr txBox="1"/>
          <p:nvPr/>
        </p:nvSpPr>
        <p:spPr>
          <a:xfrm>
            <a:off x="-938" y="3969579"/>
            <a:ext cx="122006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/>
                <a:cs typeface="Times New Roman"/>
              </a:rPr>
              <a:t> Comparative Study of Dimensionality Reduction in High-Dimensional Data</a:t>
            </a:r>
            <a:endParaRPr lang="en-US" sz="28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7C5CEE-C5D0-B2DE-E44F-7EE8AF5B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D72F-613A-1ADC-E4A3-E14312E6E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The goal of this paper is to analyze the below 4 mentioned techniques of Dimensionality Reduction </a:t>
            </a:r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PCA </a:t>
            </a:r>
            <a:r>
              <a:rPr lang="en-US" sz="2000">
                <a:ea typeface="+mn-lt"/>
                <a:cs typeface="+mn-lt"/>
              </a:rPr>
              <a:t>(Principal Component Analysis)</a:t>
            </a:r>
          </a:p>
          <a:p>
            <a:r>
              <a:rPr lang="en-US" sz="2000"/>
              <a:t>t-SNE</a:t>
            </a:r>
            <a:r>
              <a:rPr lang="en-US" sz="2000">
                <a:ea typeface="+mn-lt"/>
                <a:cs typeface="+mn-lt"/>
              </a:rPr>
              <a:t> (t-Distributed Stochastic Neighbor Embedding)</a:t>
            </a:r>
          </a:p>
          <a:p>
            <a:r>
              <a:rPr lang="en-US" sz="2000">
                <a:ea typeface="+mn-lt"/>
                <a:cs typeface="+mn-lt"/>
              </a:rPr>
              <a:t>LDA (Linear Discriminant Analysis)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Autoencoders</a:t>
            </a:r>
          </a:p>
        </p:txBody>
      </p:sp>
    </p:spTree>
    <p:extLst>
      <p:ext uri="{BB962C8B-B14F-4D97-AF65-F5344CB8AC3E}">
        <p14:creationId xmlns:p14="http://schemas.microsoft.com/office/powerpoint/2010/main" val="69138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D364-D054-0D63-1973-8C184D64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032" y="184219"/>
            <a:ext cx="9675732" cy="881760"/>
          </a:xfrm>
        </p:spPr>
        <p:txBody>
          <a:bodyPr>
            <a:normAutofit fontScale="90000"/>
          </a:bodyPr>
          <a:lstStyle/>
          <a:p>
            <a:r>
              <a:rPr lang="en-US"/>
              <a:t>Dataset Overview :   Digit Recognizer 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077E-547A-B4CB-93C4-742264094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23" y="845426"/>
            <a:ext cx="11633570" cy="58488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Source : </a:t>
            </a:r>
            <a:r>
              <a:rPr lang="en-US"/>
              <a:t>Kaggle </a:t>
            </a:r>
            <a:r>
              <a:rPr lang="en-US">
                <a:solidFill>
                  <a:srgbClr val="000000"/>
                </a:solidFill>
              </a:rPr>
              <a:t> " </a:t>
            </a:r>
            <a:r>
              <a:rPr lang="en-US">
                <a:solidFill>
                  <a:schemeClr val="accent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https://www.kaggle.com/competitions/digit-recognizer/data?select=train.csv</a:t>
            </a:r>
            <a:r>
              <a:rPr lang="en-US">
                <a:solidFill>
                  <a:schemeClr val="accent1"/>
                </a:solidFill>
              </a:rPr>
              <a:t> " </a:t>
            </a:r>
          </a:p>
          <a:p>
            <a:r>
              <a:rPr lang="en-US">
                <a:ea typeface="+mn-lt"/>
                <a:cs typeface="+mn-lt"/>
              </a:rPr>
              <a:t>The Kaggle Digit Recognizer dataset is a CSV-based representation of the </a:t>
            </a:r>
            <a:r>
              <a:rPr lang="en-US" b="1">
                <a:ea typeface="+mn-lt"/>
                <a:cs typeface="+mn-lt"/>
              </a:rPr>
              <a:t>MNIST dataset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Majority are </a:t>
            </a:r>
            <a:r>
              <a:rPr lang="en-US" b="1">
                <a:ea typeface="+mn-lt"/>
                <a:cs typeface="+mn-lt"/>
              </a:rPr>
              <a:t>zeros</a:t>
            </a:r>
            <a:r>
              <a:rPr lang="en-US">
                <a:ea typeface="+mn-lt"/>
                <a:cs typeface="+mn-lt"/>
              </a:rPr>
              <a:t> (background), with non-zero values  forming the digit.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712C69-B362-670A-D141-5D970F50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32555"/>
              </p:ext>
            </p:extLst>
          </p:nvPr>
        </p:nvGraphicFramePr>
        <p:xfrm>
          <a:off x="411151" y="3179568"/>
          <a:ext cx="8043879" cy="329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95">
                  <a:extLst>
                    <a:ext uri="{9D8B030D-6E8A-4147-A177-3AD203B41FA5}">
                      <a16:colId xmlns:a16="http://schemas.microsoft.com/office/drawing/2014/main" val="35218580"/>
                    </a:ext>
                  </a:extLst>
                </a:gridCol>
                <a:gridCol w="2182938">
                  <a:extLst>
                    <a:ext uri="{9D8B030D-6E8A-4147-A177-3AD203B41FA5}">
                      <a16:colId xmlns:a16="http://schemas.microsoft.com/office/drawing/2014/main" val="2669276171"/>
                    </a:ext>
                  </a:extLst>
                </a:gridCol>
                <a:gridCol w="4648646">
                  <a:extLst>
                    <a:ext uri="{9D8B030D-6E8A-4147-A177-3AD203B41FA5}">
                      <a16:colId xmlns:a16="http://schemas.microsoft.com/office/drawing/2014/main" val="3493763609"/>
                    </a:ext>
                  </a:extLst>
                </a:gridCol>
              </a:tblGrid>
              <a:tr h="2653596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Train.csv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42,000 images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Label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(digit 0-9) , 785 Columns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6.3 million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non-zero pixel values , 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</a:rPr>
                        <a:t>Sample of non-zero pixel values: [188. 255. 94. 191. 250. 253. 93. 123. 248. 253.] 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Lower pixel values (closer to 0)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: </a:t>
                      </a: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Represent darker shades </a:t>
                      </a:r>
                      <a:endParaRPr lang="en-US" b="1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Shape </a:t>
                      </a:r>
                      <a:r>
                        <a:rPr lang="en-US" sz="1600" b="1" i="0" u="none" strike="noStrike" noProof="0" dirty="0">
                          <a:solidFill>
                            <a:srgbClr val="000000"/>
                          </a:solidFill>
                        </a:rPr>
                        <a:t>(42000,785) </a:t>
                      </a:r>
                      <a:endParaRPr lang="en-US" sz="1600" b="0" i="0" u="none" strike="noStrike" noProof="0" dirty="0">
                        <a:solidFill>
                          <a:srgbClr val="000000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pixel values are stored as </a:t>
                      </a:r>
                      <a:r>
                        <a:rPr lang="en-US" sz="1600" b="1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integers between 0 and 255</a:t>
                      </a:r>
                      <a:endParaRPr lang="en-US" sz="1600" b="1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206712"/>
                  </a:ext>
                </a:extLst>
              </a:tr>
              <a:tr h="602076">
                <a:tc>
                  <a:txBody>
                    <a:bodyPr/>
                    <a:lstStyle/>
                    <a:p>
                      <a:endParaRPr lang="en-US" b="1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Test.csv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latin typeface="Aptos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28,000 images 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 dirty="0"/>
                        <a:t>No labels 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719074"/>
                  </a:ext>
                </a:extLst>
              </a:tr>
            </a:tbl>
          </a:graphicData>
        </a:graphic>
      </p:graphicFrame>
      <p:pic>
        <p:nvPicPr>
          <p:cNvPr id="5" name="Picture 4" descr="A white object with a black background&#10;&#10;Description automatically generated">
            <a:extLst>
              <a:ext uri="{FF2B5EF4-FFF2-40B4-BE49-F238E27FC236}">
                <a16:creationId xmlns:a16="http://schemas.microsoft.com/office/drawing/2014/main" id="{71BCB417-B3E4-1001-5440-4DC700BD6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974" y="3188783"/>
            <a:ext cx="3195356" cy="348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51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EBAD-F314-DACA-6A42-2A7BE130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69" y="142643"/>
            <a:ext cx="11205293" cy="630308"/>
          </a:xfrm>
        </p:spPr>
        <p:txBody>
          <a:bodyPr>
            <a:normAutofit fontScale="90000"/>
          </a:bodyPr>
          <a:lstStyle/>
          <a:p>
            <a:r>
              <a:rPr lang="en-US"/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970C-F903-79FB-BB1A-4DE2CC105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310" y="880078"/>
            <a:ext cx="11822679" cy="5296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Reduced 784D TO 2D for Data Visualization using all 4 techniques </a:t>
            </a:r>
          </a:p>
          <a:p>
            <a:pPr marL="0" indent="0">
              <a:buNone/>
            </a:pPr>
            <a:endParaRPr lang="en-US"/>
          </a:p>
          <a:p>
            <a:pPr marL="514350" indent="-514350">
              <a:buAutoNum type="arabicPeriod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group of images of different colors&#10;&#10;Description automatically generated">
            <a:extLst>
              <a:ext uri="{FF2B5EF4-FFF2-40B4-BE49-F238E27FC236}">
                <a16:creationId xmlns:a16="http://schemas.microsoft.com/office/drawing/2014/main" id="{AC126DE0-DCCC-5A88-3450-8BE973AF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2" y="1453743"/>
            <a:ext cx="12124362" cy="539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95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67BA-FBAC-9157-9425-AFA27C1C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62"/>
          </a:xfrm>
        </p:spPr>
        <p:txBody>
          <a:bodyPr/>
          <a:lstStyle/>
          <a:p>
            <a:r>
              <a:rPr lang="en-US"/>
              <a:t>2. Reduced 784D to 3D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E63F05-58F1-F6CC-55E7-0F414FAE6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00" y="1236050"/>
            <a:ext cx="12099068" cy="5597233"/>
          </a:xfrm>
        </p:spPr>
      </p:pic>
    </p:spTree>
    <p:extLst>
      <p:ext uri="{BB962C8B-B14F-4D97-AF65-F5344CB8AC3E}">
        <p14:creationId xmlns:p14="http://schemas.microsoft.com/office/powerpoint/2010/main" val="169857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95109-F5CA-8A56-EC5C-FD39E9D5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794741"/>
            <a:ext cx="8074815" cy="634009"/>
          </a:xfrm>
        </p:spPr>
        <p:txBody>
          <a:bodyPr anchor="ctr">
            <a:normAutofit fontScale="90000"/>
          </a:bodyPr>
          <a:lstStyle/>
          <a:p>
            <a:r>
              <a:rPr lang="en-US" sz="7200"/>
              <a:t>Observations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C4B5-6246-BAE9-125B-6217430CB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32" y="1523338"/>
            <a:ext cx="10522114" cy="44078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t-SNE</a:t>
            </a:r>
            <a:r>
              <a:rPr lang="en-US" sz="2400">
                <a:ea typeface="+mn-lt"/>
                <a:cs typeface="+mn-lt"/>
              </a:rPr>
              <a:t>: Shows the clearest clustering, making it ideal for visualizing complex, non-linear structures or relationships in the data.</a:t>
            </a:r>
            <a:endParaRPr lang="en-US" sz="2400" b="1"/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LDA</a:t>
            </a:r>
            <a:r>
              <a:rPr lang="en-US" sz="2400">
                <a:ea typeface="+mn-lt"/>
                <a:cs typeface="+mn-lt"/>
              </a:rPr>
              <a:t>: Performs exceptionally well when class labels are provided(that is our case), ensuring clear separation of different classes.</a:t>
            </a:r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PCA</a:t>
            </a:r>
            <a:r>
              <a:rPr lang="en-US" sz="2400">
                <a:ea typeface="+mn-lt"/>
                <a:cs typeface="+mn-lt"/>
              </a:rPr>
              <a:t>: Captures global structure and linear variance but might fail to clearly separate complex non-linear structures.</a:t>
            </a:r>
            <a:endParaRPr lang="en-US" sz="2400"/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Autoencoders</a:t>
            </a:r>
            <a:r>
              <a:rPr lang="en-US" sz="2400">
                <a:ea typeface="+mn-lt"/>
                <a:cs typeface="+mn-lt"/>
              </a:rPr>
              <a:t>: Offer a more flexible and powerful way to capture non-linear features, though the separation and clarity of clusters may vary depending on tuning.</a:t>
            </a:r>
            <a:endParaRPr lang="en-US" sz="2400"/>
          </a:p>
          <a:p>
            <a:endParaRPr lang="en-US" sz="1100" b="1"/>
          </a:p>
        </p:txBody>
      </p:sp>
    </p:spTree>
    <p:extLst>
      <p:ext uri="{BB962C8B-B14F-4D97-AF65-F5344CB8AC3E}">
        <p14:creationId xmlns:p14="http://schemas.microsoft.com/office/powerpoint/2010/main" val="125684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07E6-FF76-DF67-FA2E-B06F6D13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424" y="6874"/>
            <a:ext cx="11601734" cy="933187"/>
          </a:xfrm>
        </p:spPr>
        <p:txBody>
          <a:bodyPr>
            <a:normAutofit/>
          </a:bodyPr>
          <a:lstStyle/>
          <a:p>
            <a:r>
              <a:rPr lang="en-US"/>
              <a:t>3. Reduced 784D TO 9D to </a:t>
            </a:r>
            <a:r>
              <a:rPr lang="en-US">
                <a:ea typeface="+mj-lt"/>
                <a:cs typeface="+mj-lt"/>
              </a:rPr>
              <a:t>compare the accuracy</a:t>
            </a:r>
          </a:p>
        </p:txBody>
      </p:sp>
      <p:pic>
        <p:nvPicPr>
          <p:cNvPr id="4" name="Content Placeholder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332DAA04-72FD-27E4-5D2A-34BD95CAF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427" y="920406"/>
            <a:ext cx="9648198" cy="159285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789E11-9074-AD71-4310-09DC972B03B4}"/>
              </a:ext>
            </a:extLst>
          </p:cNvPr>
          <p:cNvSpPr txBox="1"/>
          <p:nvPr/>
        </p:nvSpPr>
        <p:spPr>
          <a:xfrm>
            <a:off x="238695" y="2634283"/>
            <a:ext cx="1174389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LDA : Best for classification as </a:t>
            </a:r>
            <a:r>
              <a:rPr lang="en-US" sz="2400" b="1">
                <a:ea typeface="+mn-lt"/>
                <a:cs typeface="+mn-lt"/>
              </a:rPr>
              <a:t>it maximizes class separability </a:t>
            </a:r>
            <a:r>
              <a:rPr lang="en-US" sz="2400">
                <a:ea typeface="+mn-lt"/>
                <a:cs typeface="+mn-lt"/>
              </a:rPr>
              <a:t>using labels, making it ideal for Logistic Regression.</a:t>
            </a:r>
          </a:p>
          <a:p>
            <a:endParaRPr 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PCA : Performs moderately well;</a:t>
            </a:r>
            <a:r>
              <a:rPr lang="en-US" sz="2400" b="1">
                <a:ea typeface="+mn-lt"/>
                <a:cs typeface="+mn-lt"/>
              </a:rPr>
              <a:t> preserves variance </a:t>
            </a:r>
            <a:r>
              <a:rPr lang="en-US" sz="2400">
                <a:ea typeface="+mn-lt"/>
                <a:cs typeface="+mn-lt"/>
              </a:rPr>
              <a:t>but not class separability.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Autoencoder : Captures non-linear features but less suited for linear classification </a:t>
            </a:r>
            <a:r>
              <a:rPr lang="en-US" sz="2400" b="1">
                <a:ea typeface="+mn-lt"/>
                <a:cs typeface="+mn-lt"/>
              </a:rPr>
              <a:t>without further tuning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endParaRPr 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t-SNE : Poor for classification; designed for visualization, not feature extraction. It is computationally expensive, especially for large datasets, as</a:t>
            </a:r>
            <a:r>
              <a:rPr lang="en-US" sz="2400" b="1">
                <a:ea typeface="+mn-lt"/>
                <a:cs typeface="+mn-lt"/>
              </a:rPr>
              <a:t> it needs to compute pairwise similarities for every pair of points in the dataset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895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0429-CC1C-D5E9-0CA1-955DA9E9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" y="244521"/>
            <a:ext cx="12198904" cy="1336527"/>
          </a:xfrm>
        </p:spPr>
        <p:txBody>
          <a:bodyPr/>
          <a:lstStyle/>
          <a:p>
            <a:r>
              <a:rPr lang="en-US"/>
              <a:t>4. PCA : Comparision between 9D,50D,100D,200D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55A658-6346-3177-74AC-EB13691DD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661104"/>
              </p:ext>
            </p:extLst>
          </p:nvPr>
        </p:nvGraphicFramePr>
        <p:xfrm>
          <a:off x="1206043" y="1715870"/>
          <a:ext cx="9326353" cy="247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785">
                  <a:extLst>
                    <a:ext uri="{9D8B030D-6E8A-4147-A177-3AD203B41FA5}">
                      <a16:colId xmlns:a16="http://schemas.microsoft.com/office/drawing/2014/main" val="771946481"/>
                    </a:ext>
                  </a:extLst>
                </a:gridCol>
                <a:gridCol w="2906727">
                  <a:extLst>
                    <a:ext uri="{9D8B030D-6E8A-4147-A177-3AD203B41FA5}">
                      <a16:colId xmlns:a16="http://schemas.microsoft.com/office/drawing/2014/main" val="1051433399"/>
                    </a:ext>
                  </a:extLst>
                </a:gridCol>
                <a:gridCol w="3310841">
                  <a:extLst>
                    <a:ext uri="{9D8B030D-6E8A-4147-A177-3AD203B41FA5}">
                      <a16:colId xmlns:a16="http://schemas.microsoft.com/office/drawing/2014/main" val="2975751035"/>
                    </a:ext>
                  </a:extLst>
                </a:gridCol>
              </a:tblGrid>
              <a:tr h="4946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 </a:t>
                      </a: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Arial"/>
                        </a:rPr>
                        <a:t>PCA Dimensions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Arial"/>
                        </a:rPr>
                        <a:t>Classification 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bg1"/>
                          </a:solidFill>
                          <a:latin typeface="Arial"/>
                        </a:rPr>
                        <a:t>Variance Preserved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5894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r>
                        <a:rPr lang="en-US"/>
                        <a:t>9D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  0.7830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26.8585%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713343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r>
                        <a:rPr lang="en-US"/>
                        <a:t>50D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0.9011   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56.3588%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76066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r>
                        <a:rPr lang="en-US"/>
                        <a:t>100D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  0.9146   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72.0968%  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69011"/>
                  </a:ext>
                </a:extLst>
              </a:tr>
              <a:tr h="4946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200D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0.9186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FF"/>
                          </a:solidFill>
                          <a:latin typeface="Arial"/>
                        </a:rPr>
                        <a:t>  87.9363%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32056"/>
                  </a:ext>
                </a:extLst>
              </a:tr>
            </a:tbl>
          </a:graphicData>
        </a:graphic>
      </p:graphicFrame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070C5FDF-19C5-C57C-84DC-9A942968D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076" y="4751780"/>
            <a:ext cx="8030194" cy="1508652"/>
          </a:xfrm>
        </p:spPr>
      </p:pic>
    </p:spTree>
    <p:extLst>
      <p:ext uri="{BB962C8B-B14F-4D97-AF65-F5344CB8AC3E}">
        <p14:creationId xmlns:p14="http://schemas.microsoft.com/office/powerpoint/2010/main" val="360336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321-4B02-2587-5BAF-344DFC1F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1" y="107470"/>
            <a:ext cx="12346591" cy="1336527"/>
          </a:xfrm>
        </p:spPr>
        <p:txBody>
          <a:bodyPr/>
          <a:lstStyle/>
          <a:p>
            <a:r>
              <a:rPr lang="en-US" dirty="0"/>
              <a:t>5. Autoencoder : Comparison between 9D,50D,100D, 200D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6A8BBA-BA45-C3B8-A1F3-01C876C19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21852"/>
              </p:ext>
            </p:extLst>
          </p:nvPr>
        </p:nvGraphicFramePr>
        <p:xfrm>
          <a:off x="1173152" y="1715871"/>
          <a:ext cx="9844899" cy="2123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267">
                  <a:extLst>
                    <a:ext uri="{9D8B030D-6E8A-4147-A177-3AD203B41FA5}">
                      <a16:colId xmlns:a16="http://schemas.microsoft.com/office/drawing/2014/main" val="1300158357"/>
                    </a:ext>
                  </a:extLst>
                </a:gridCol>
                <a:gridCol w="1913136">
                  <a:extLst>
                    <a:ext uri="{9D8B030D-6E8A-4147-A177-3AD203B41FA5}">
                      <a16:colId xmlns:a16="http://schemas.microsoft.com/office/drawing/2014/main" val="3185434376"/>
                    </a:ext>
                  </a:extLst>
                </a:gridCol>
                <a:gridCol w="3022271">
                  <a:extLst>
                    <a:ext uri="{9D8B030D-6E8A-4147-A177-3AD203B41FA5}">
                      <a16:colId xmlns:a16="http://schemas.microsoft.com/office/drawing/2014/main" val="550404983"/>
                    </a:ext>
                  </a:extLst>
                </a:gridCol>
                <a:gridCol w="2461225">
                  <a:extLst>
                    <a:ext uri="{9D8B030D-6E8A-4147-A177-3AD203B41FA5}">
                      <a16:colId xmlns:a16="http://schemas.microsoft.com/office/drawing/2014/main" val="3212506158"/>
                    </a:ext>
                  </a:extLst>
                </a:gridCol>
              </a:tblGrid>
              <a:tr h="566840">
                <a:tc>
                  <a:txBody>
                    <a:bodyPr/>
                    <a:lstStyle/>
                    <a:p>
                      <a:r>
                        <a:rPr lang="en-US"/>
                        <a:t>Encoding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Train Construction Error (MSE)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Validation Reconstruction Error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59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0.761905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0.721231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1.828591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53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0.900595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0.617557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1.726254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72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0.916905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0.602225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1.710927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35948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200D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0.925119 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0.598040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1.706581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06327"/>
                  </a:ext>
                </a:extLst>
              </a:tr>
            </a:tbl>
          </a:graphicData>
        </a:graphic>
      </p:graphicFrame>
      <p:pic>
        <p:nvPicPr>
          <p:cNvPr id="10" name="Content Placeholder 9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92C6B9C0-4C20-80E0-2DB2-27CC7522D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291" y="4467956"/>
            <a:ext cx="8876353" cy="1758346"/>
          </a:xfrm>
        </p:spPr>
      </p:pic>
    </p:spTree>
    <p:extLst>
      <p:ext uri="{BB962C8B-B14F-4D97-AF65-F5344CB8AC3E}">
        <p14:creationId xmlns:p14="http://schemas.microsoft.com/office/powerpoint/2010/main" val="266268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11E2-F6D3-7AC7-0312-165A43FB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725" y="365125"/>
            <a:ext cx="7780075" cy="1336527"/>
          </a:xfrm>
        </p:spPr>
        <p:txBody>
          <a:bodyPr/>
          <a:lstStyle/>
          <a:p>
            <a:r>
              <a:rPr lang="en-US"/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40BF-D632-11E2-89F3-45EFC721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39" y="1573453"/>
            <a:ext cx="4342851" cy="4603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                              </a:t>
            </a:r>
            <a:r>
              <a:rPr lang="en-US" b="1"/>
              <a:t>TSNE </a:t>
            </a: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t-SNE is computationally expensive.</a:t>
            </a:r>
          </a:p>
          <a:p>
            <a:r>
              <a:rPr lang="en-US"/>
              <a:t>Unable to analyze for d&gt;3 because of the CPU and memory limitation.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611BE-96C4-F76D-E154-8319A6EAD474}"/>
              </a:ext>
            </a:extLst>
          </p:cNvPr>
          <p:cNvSpPr txBox="1"/>
          <p:nvPr/>
        </p:nvSpPr>
        <p:spPr>
          <a:xfrm>
            <a:off x="6545046" y="1696289"/>
            <a:ext cx="56458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                               LDA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D8101-E12E-8A7A-C888-4632D05F104F}"/>
              </a:ext>
            </a:extLst>
          </p:cNvPr>
          <p:cNvSpPr txBox="1"/>
          <p:nvPr/>
        </p:nvSpPr>
        <p:spPr>
          <a:xfrm>
            <a:off x="5528663" y="2347655"/>
            <a:ext cx="645718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LDA can reduce the dimensionality of the data </a:t>
            </a:r>
            <a:r>
              <a:rPr lang="en-US" sz="2800" b="1">
                <a:ea typeface="+mn-lt"/>
                <a:cs typeface="+mn-lt"/>
              </a:rPr>
              <a:t>at most to (number of classes - 1)</a:t>
            </a:r>
            <a:r>
              <a:rPr lang="en-US" sz="2800">
                <a:ea typeface="+mn-lt"/>
                <a:cs typeface="+mn-lt"/>
              </a:rPr>
              <a:t> dimensions.</a:t>
            </a:r>
            <a:endParaRPr lang="en-US"/>
          </a:p>
          <a:p>
            <a:pPr marL="457200" indent="-457200"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With 10 classes, the algorithm can find only </a:t>
            </a:r>
            <a:r>
              <a:rPr lang="en-US" sz="2800" b="1">
                <a:ea typeface="+mn-lt"/>
                <a:cs typeface="+mn-lt"/>
              </a:rPr>
              <a:t>9 linear discriminants</a:t>
            </a:r>
            <a:r>
              <a:rPr lang="en-US" sz="2800">
                <a:ea typeface="+mn-lt"/>
                <a:cs typeface="+mn-lt"/>
              </a:rPr>
              <a:t>, since each discriminant represents a decision boundary between class pairs.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512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91F22-D9A5-5339-A330-C9B52948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E2B773-3D9F-B07D-0D9B-54F16045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281" y="1709172"/>
            <a:ext cx="6166546" cy="356026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Data Visualization Analysis </a:t>
            </a:r>
            <a:r>
              <a:rPr lang="en-US" sz="2000">
                <a:ea typeface="+mn-lt"/>
                <a:cs typeface="+mn-lt"/>
              </a:rPr>
              <a:t>: T-SNE and LDA performs well with logistic regression for handwritten digit recognition multiclass task.</a:t>
            </a:r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Classification Analysis</a:t>
            </a:r>
            <a:r>
              <a:rPr lang="en-US" sz="2000">
                <a:ea typeface="+mn-lt"/>
                <a:cs typeface="+mn-lt"/>
              </a:rPr>
              <a:t>: LDA and PCA performed well with LR. </a:t>
            </a:r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The choice of dimensionality reduction should align with the specific purpose . </a:t>
            </a:r>
          </a:p>
        </p:txBody>
      </p:sp>
    </p:spTree>
    <p:extLst>
      <p:ext uri="{BB962C8B-B14F-4D97-AF65-F5344CB8AC3E}">
        <p14:creationId xmlns:p14="http://schemas.microsoft.com/office/powerpoint/2010/main" val="264880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Data Mining Term Paper</vt:lpstr>
      <vt:lpstr>Objective </vt:lpstr>
      <vt:lpstr>Dataset Overview :   Digit Recognizer  </vt:lpstr>
      <vt:lpstr>Implementation </vt:lpstr>
      <vt:lpstr>2. Reduced 784D to 3D </vt:lpstr>
      <vt:lpstr>Observations  </vt:lpstr>
      <vt:lpstr>3. Reduced 784D TO 9D to compare the accuracy</vt:lpstr>
      <vt:lpstr>4. PCA : Comparision between 9D,50D,100D,200D</vt:lpstr>
      <vt:lpstr>5. Autoencoder : Comparison between 9D,50D,100D, 200D</vt:lpstr>
      <vt:lpstr>Challenges faced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22</cp:revision>
  <dcterms:created xsi:type="dcterms:W3CDTF">2013-07-15T20:26:40Z</dcterms:created>
  <dcterms:modified xsi:type="dcterms:W3CDTF">2024-11-21T20:14:24Z</dcterms:modified>
</cp:coreProperties>
</file>